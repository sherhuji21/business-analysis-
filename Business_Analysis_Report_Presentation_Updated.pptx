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4297680"/>
            <a:ext cx="438912" cy="1097280"/>
          </a:xfrm>
          <a:prstGeom prst="roundRect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95360" y="3566160"/>
            <a:ext cx="438912" cy="1828800"/>
          </a:xfrm>
          <a:prstGeom prst="round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0" y="2834640"/>
            <a:ext cx="438912" cy="2560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2194560"/>
            <a:ext cx="438912" cy="3200400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914400"/>
            <a:ext cx="2377440" cy="2377440"/>
          </a:xfrm>
          <a:prstGeom prst="ellipse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1080" y="1325880"/>
            <a:ext cx="1554480" cy="1554480"/>
          </a:xfrm>
          <a:prstGeom prst="ellipse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51560"/>
            <a:ext cx="676656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400" b="1">
                <a:solidFill>
                  <a:srgbClr val="19A6A3"/>
                </a:solidFill>
                <a:latin typeface="Aptos"/>
              </a:defRPr>
            </a:pPr>
            <a:r>
              <a:t>BUSINESS &amp;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7040880" cy="1417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BUSINESS\nANALYSIS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6035040" cy="6858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800" b="0">
                <a:solidFill>
                  <a:srgbClr val="D6E2F2"/>
                </a:solidFill>
                <a:latin typeface="Aptos"/>
              </a:defRPr>
            </a:pPr>
            <a:r>
              <a:t>Turning business data into clear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4251960"/>
            <a:ext cx="1051560" cy="64008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603504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Presented by: Divyanshu 26BCA10251 and Krish 26BCA10195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603504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Course / Class: 26BCA 4A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04104"/>
            <a:ext cx="603504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Date: 28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355080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800" b="1">
                <a:solidFill>
                  <a:srgbClr val="A0B4CD"/>
                </a:solidFill>
                <a:latin typeface="Aptos"/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What is a Business Analysis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819656"/>
            <a:ext cx="49743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21992"/>
            <a:ext cx="4974336" cy="125272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A structured document that studies a business problem, process, market or performance using facts and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9656"/>
            <a:ext cx="49743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Main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221992"/>
            <a:ext cx="4974336" cy="125272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To understand what is happening, why it is happening, and what actions can improve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2200" b="1">
                <a:solidFill>
                  <a:srgbClr val="122340"/>
                </a:solidFill>
                <a:latin typeface="Aptos"/>
              </a:defRPr>
            </a:pPr>
            <a:r>
              <a:t>Think of it as a “health check” for a business.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9966960" cy="6858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600" b="0">
                <a:solidFill>
                  <a:srgbClr val="283242"/>
                </a:solidFill>
                <a:latin typeface="Aptos"/>
              </a:defRPr>
            </a:pPr>
            <a:r>
              <a:t>Example: A café reviews sales, customer feedback and costs to understand why profit has fallen.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Why Is Business Analysis Important?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It supports decisions with evidence instead of guesswork.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739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Find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76272"/>
            <a:ext cx="3145536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Spot falling sales, high costs or slow processes.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739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Find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76272"/>
            <a:ext cx="3145536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Identify new customers, products or markets.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739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Reduce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76272"/>
            <a:ext cx="3145536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Compare options before spending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6576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3785615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2A06B"/>
                </a:solidFill>
                <a:latin typeface="Aptos"/>
              </a:defRPr>
            </a:pPr>
            <a:r>
              <a:t>Measure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4187952"/>
            <a:ext cx="3145536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Track targets using KPIs and trends.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85615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Plan improvements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87952"/>
            <a:ext cx="3145536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Recommend practical, measurable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Key Steps in Business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A simple, repeatable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828800"/>
            <a:ext cx="685800" cy="685800"/>
          </a:xfrm>
          <a:prstGeom prst="ellipse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84248"/>
            <a:ext cx="6858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500" b="1">
                <a:solidFill>
                  <a:srgbClr val="122340"/>
                </a:solidFill>
                <a:latin typeface="Aptos"/>
              </a:defRPr>
            </a:pPr>
            <a:r>
              <a:t>Define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92024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100" b="0">
                <a:solidFill>
                  <a:srgbClr val="283242"/>
                </a:solidFill>
                <a:latin typeface="Aptos"/>
              </a:defRPr>
            </a:pPr>
            <a:r>
              <a:t>What decision needs to be made?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993392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520439" y="1828800"/>
            <a:ext cx="685800" cy="685800"/>
          </a:xfrm>
          <a:prstGeom prst="ellipse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984248"/>
            <a:ext cx="6858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74320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500" b="1">
                <a:solidFill>
                  <a:srgbClr val="122340"/>
                </a:solidFill>
                <a:latin typeface="Aptos"/>
              </a:defRPr>
            </a:pPr>
            <a:r>
              <a:t>Collect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246120"/>
            <a:ext cx="192024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100" b="0">
                <a:solidFill>
                  <a:srgbClr val="283242"/>
                </a:solidFill>
                <a:latin typeface="Aptos"/>
              </a:defRPr>
            </a:pPr>
            <a:r>
              <a:t>Sales, costs, surveys and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993392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0" y="1828800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984248"/>
            <a:ext cx="6858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74320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500" b="1">
                <a:solidFill>
                  <a:srgbClr val="122340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46120"/>
            <a:ext cx="192024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100" b="0">
                <a:solidFill>
                  <a:srgbClr val="283242"/>
                </a:solidFill>
                <a:latin typeface="Aptos"/>
              </a:defRPr>
            </a:pPr>
            <a:r>
              <a:t>Compare trends, causes and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93392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183879" y="1828800"/>
            <a:ext cx="685800" cy="685800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984248"/>
            <a:ext cx="6858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74320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500" b="1">
                <a:solidFill>
                  <a:srgbClr val="122340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246120"/>
            <a:ext cx="192024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100" b="0">
                <a:solidFill>
                  <a:srgbClr val="283242"/>
                </a:solidFill>
                <a:latin typeface="Aptos"/>
              </a:defRPr>
            </a:pPr>
            <a:r>
              <a:t>Suggest actions supported by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1993392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0" y="1828800"/>
            <a:ext cx="685800" cy="685800"/>
          </a:xfrm>
          <a:prstGeom prst="ellipse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1984248"/>
            <a:ext cx="6858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74320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500" b="1">
                <a:solidFill>
                  <a:srgbClr val="122340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246120"/>
            <a:ext cx="192024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100" b="0">
                <a:solidFill>
                  <a:srgbClr val="283242"/>
                </a:solidFill>
                <a:latin typeface="Aptos"/>
              </a:defRPr>
            </a:pPr>
            <a:r>
              <a:t>Check results against targets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700" b="1">
                <a:solidFill>
                  <a:srgbClr val="19A6A3"/>
                </a:solidFill>
                <a:latin typeface="Aptos"/>
              </a:defRPr>
            </a:pPr>
            <a:r>
              <a:t>Good analysis connects reliable data to a specific business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What Does a Business Analysis Report Cover?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The sections depend on the question being investigated.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2821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Financial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30552"/>
            <a:ext cx="3145536" cy="7955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Revenue, expenses, profit and cash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2821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Market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30552"/>
            <a:ext cx="3145536" cy="7955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Customers, competitors and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2821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Operational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30552"/>
            <a:ext cx="3145536" cy="7955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Productivity, quality and delivery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6027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2A06B"/>
                </a:solidFill>
                <a:latin typeface="Aptos"/>
              </a:defRPr>
            </a:pPr>
            <a:r>
              <a:t>Customer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05072"/>
            <a:ext cx="3145536" cy="7955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Satisfaction, complaints and retention.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747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6027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DC5050"/>
                </a:solidFill>
                <a:latin typeface="Aptos"/>
              </a:defRPr>
            </a:pPr>
            <a:r>
              <a:t>Risk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145536" cy="7955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Threats, uncertainty and possible impact.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747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6027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SWOT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005072"/>
            <a:ext cx="3145536" cy="7955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Strengths, weaknesses, opportunities, threats.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Common Tools and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Use the tool that best fits the business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739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SWOT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76272"/>
            <a:ext cx="3145536" cy="8412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Maps internal strengths and weaknesses with external opportunities and threats.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739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76272"/>
            <a:ext cx="3145536" cy="8412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Measurable indicators such as profit margin, sales growth or delivery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73936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Trend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76272"/>
            <a:ext cx="3145536" cy="8412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Compares data across days, months or years to reveal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65760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3785615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2A06B"/>
                </a:solidFill>
                <a:latin typeface="Aptos"/>
              </a:defRPr>
            </a:pPr>
            <a:r>
              <a:t>Customer surveys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4187952"/>
            <a:ext cx="3145536" cy="8412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Collects feedback about service, quality and value.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85615"/>
            <a:ext cx="31455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Break-even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87952"/>
            <a:ext cx="3145536" cy="8412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Estimates the sales level at which revenue covers total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Example 1: Analysing Monthly Sales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Illustrative data for a small café (₹ thousands)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800" b="1">
                <a:solidFill>
                  <a:srgbClr val="122340"/>
                </a:solidFill>
                <a:latin typeface="Aptos"/>
              </a:defRPr>
            </a:pPr>
            <a:r>
              <a:t>Monthly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026663"/>
            <a:ext cx="734290" cy="1975104"/>
          </a:xfrm>
          <a:prstGeom prst="roundRect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52344"/>
            <a:ext cx="91717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1">
                <a:solidFill>
                  <a:srgbClr val="122340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100861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Jan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4580" y="3224174"/>
            <a:ext cx="734290" cy="1777593"/>
          </a:xfrm>
          <a:prstGeom prst="roundRect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3140" y="2949854"/>
            <a:ext cx="91717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1">
                <a:solidFill>
                  <a:srgbClr val="122340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7420" y="5074920"/>
            <a:ext cx="100861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Feb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396996"/>
            <a:ext cx="734290" cy="1604772"/>
          </a:xfrm>
          <a:prstGeom prst="roundRect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122676"/>
            <a:ext cx="91717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1">
                <a:solidFill>
                  <a:srgbClr val="122340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074920"/>
            <a:ext cx="100861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77740" y="2779775"/>
            <a:ext cx="734290" cy="2221992"/>
          </a:xfrm>
          <a:prstGeom prst="round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6300" y="2505456"/>
            <a:ext cx="91717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1">
                <a:solidFill>
                  <a:srgbClr val="122340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0580" y="5074920"/>
            <a:ext cx="100861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Apr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819656"/>
            <a:ext cx="45171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221992"/>
            <a:ext cx="4517136" cy="5212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Sales declined for two months, then rose in April.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06324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191256"/>
            <a:ext cx="45171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Possible 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593592"/>
            <a:ext cx="4517136" cy="5212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A promotion, seasonal demand or a new menu may have influenced sales.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43484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562855"/>
            <a:ext cx="451713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965192"/>
            <a:ext cx="4517136" cy="5212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Check transaction records and promotion results before choosing the next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0644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Note: Figures are fictional and used for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Example 2: SWOT Analysis of an Online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A quick way to organise business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28216"/>
            <a:ext cx="4791455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2A06B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0552"/>
            <a:ext cx="4791455" cy="10241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• Easy online ordering\n• Wide product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728216"/>
            <a:ext cx="4791455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DC5050"/>
                </a:solidFill>
                <a:latin typeface="Aptos"/>
              </a:defRPr>
            </a:pPr>
            <a:r>
              <a:t>WEAKNESSES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30552"/>
            <a:ext cx="4791455" cy="10241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• Delivery delays\n• Limited brand awareness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85615"/>
            <a:ext cx="4791455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87952"/>
            <a:ext cx="4791455" cy="10241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• Reach new cities\n• Promote through social media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785615"/>
            <a:ext cx="4791455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THREATS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187952"/>
            <a:ext cx="4791455" cy="10241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• Strong competitors\n• Rising shipping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Structure of a Good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A clear report helps readers move from question to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3677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1. Title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4882896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Report title, author, course/company and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63677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2. 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039112"/>
            <a:ext cx="4882896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Main finding and recommendation in a few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5409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3. Introduction &amp;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56432"/>
            <a:ext cx="4882896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Background, problem and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92608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305409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2A06B"/>
                </a:solidFill>
                <a:latin typeface="Aptos"/>
              </a:defRPr>
            </a:pPr>
            <a:r>
              <a:t>4. Method &amp;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3456432"/>
            <a:ext cx="4882896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Data sources, charts, tables and key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7141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5.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873752"/>
            <a:ext cx="4882896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Actions, owner, timeline and expected 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3434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447141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6. Conclusion &amp;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4873752"/>
            <a:ext cx="4882896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Final takeaway and 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Turning Findings into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Recommendations should be specific and measurable.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9656"/>
            <a:ext cx="30540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766BE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21992"/>
            <a:ext cx="3054096" cy="1389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Café sales are lower on weekdays than on weekends.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9656"/>
            <a:ext cx="30540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19A6A3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21992"/>
            <a:ext cx="3054096" cy="1389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Test a weekday combo offer for four weeks.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819656"/>
            <a:ext cx="30540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21992"/>
            <a:ext cx="3054096" cy="1389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Compare weekday sales and profit before and during the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60"/>
            <a:ext cx="9966960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defRPr sz="1700" b="1">
                <a:solidFill>
                  <a:srgbClr val="122340"/>
                </a:solidFill>
                <a:latin typeface="Aptos"/>
              </a:defRPr>
            </a:pPr>
            <a:r>
              <a:t>A recommendation is stronger when it includes an owner, deadline, cost and success measure.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Good Practice and 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822960" cy="54864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Reliable analysis is transparent about evidence and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7393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22A06B"/>
                </a:solidFill>
                <a:latin typeface="Aptos"/>
              </a:defRPr>
            </a:pPr>
            <a:r>
              <a:t>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4882896" cy="27614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• Use accurate, up-to-date data\n• Explain assumptions\n• Compare more than one period\n• Protect confidential information\n• Link each recommendation to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488289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1">
                <a:solidFill>
                  <a:srgbClr val="DC5050"/>
                </a:solidFill>
                <a:latin typeface="Aptos"/>
              </a:defRPr>
            </a:pPr>
            <a:r>
              <a:t>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76272"/>
            <a:ext cx="4882896" cy="27614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200" b="0">
                <a:solidFill>
                  <a:srgbClr val="283242"/>
                </a:solidFill>
                <a:latin typeface="Aptos"/>
              </a:defRPr>
            </a:pPr>
            <a:r>
              <a:t>• Treating correlation as proof of cause\n• Using misleading chart scales\n• Ignoring unusual events\n• Making claims without sources\n• Presenting estimates as actual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400" b="1">
                <a:solidFill>
                  <a:srgbClr val="19A6A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Business analysis turns information into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9875520" cy="21031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1EBF7"/>
                </a:solidFill>
                <a:latin typeface="Aptos"/>
              </a:defRPr>
            </a:pPr>
            <a:r>
              <a:t>•  Define the business question clearly.</a:t>
            </a:r>
          </a:p>
          <a:p>
            <a:pPr>
              <a:spcAft>
                <a:spcPts val="1200"/>
              </a:spcAft>
              <a:defRPr sz="1800">
                <a:solidFill>
                  <a:srgbClr val="E1EBF7"/>
                </a:solidFill>
                <a:latin typeface="Aptos"/>
              </a:defRPr>
            </a:pPr>
            <a:r>
              <a:t>•  Collect and analyse relevant evidence.</a:t>
            </a:r>
          </a:p>
          <a:p>
            <a:pPr>
              <a:spcAft>
                <a:spcPts val="1200"/>
              </a:spcAft>
              <a:defRPr sz="1800">
                <a:solidFill>
                  <a:srgbClr val="E1EBF7"/>
                </a:solidFill>
                <a:latin typeface="Aptos"/>
              </a:defRPr>
            </a:pPr>
            <a:r>
              <a:t>•  Present findings in a simple, honest way.</a:t>
            </a:r>
          </a:p>
          <a:p>
            <a:pPr>
              <a:spcAft>
                <a:spcPts val="1200"/>
              </a:spcAft>
              <a:defRPr sz="1800">
                <a:solidFill>
                  <a:srgbClr val="E1EBF7"/>
                </a:solidFill>
                <a:latin typeface="Aptos"/>
              </a:defRPr>
            </a:pPr>
            <a:r>
              <a:t>•  Recommend actions and measure the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96012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500" b="1">
                <a:solidFill>
                  <a:srgbClr val="19A6A3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8" name="Oval 7"/>
          <p:cNvSpPr/>
          <p:nvPr/>
        </p:nvSpPr>
        <p:spPr>
          <a:xfrm>
            <a:off x="9784080" y="4114800"/>
            <a:ext cx="914400" cy="914400"/>
          </a:xfrm>
          <a:prstGeom prst="ellipse">
            <a:avLst/>
          </a:prstGeom>
          <a:solidFill>
            <a:srgbClr val="27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3383280"/>
            <a:ext cx="502920" cy="502920"/>
          </a:xfrm>
          <a:prstGeom prst="ellipse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0" y="47548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